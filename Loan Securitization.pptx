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7" d="100"/>
          <a:sy n="117" d="100"/>
        </p:scale>
        <p:origin x="641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eepik.com/?utm_source=slidesgo_template&amp;utm_medium=referral-link&amp;utm_campaign=sg_credits&amp;utm_content=freepik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;p2"/>
          <p:cNvSpPr/>
          <p:nvPr/>
        </p:nvSpPr>
        <p:spPr>
          <a:xfrm>
            <a:off x="0" y="-9000"/>
            <a:ext cx="9143640" cy="5161320"/>
          </a:xfrm>
          <a:prstGeom prst="rect">
            <a:avLst/>
          </a:prstGeom>
          <a:solidFill>
            <a:srgbClr val="FFFFFF">
              <a:alpha val="77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" name="Google Shape;10;p2"/>
          <p:cNvSpPr/>
          <p:nvPr/>
        </p:nvSpPr>
        <p:spPr>
          <a:xfrm rot="5400000">
            <a:off x="5634360" y="1631880"/>
            <a:ext cx="169200" cy="6867360"/>
          </a:xfrm>
          <a:prstGeom prst="rect">
            <a:avLst/>
          </a:prstGeom>
          <a:solidFill>
            <a:srgbClr val="4353B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" name="Google Shape;11;p2"/>
          <p:cNvSpPr/>
          <p:nvPr/>
        </p:nvSpPr>
        <p:spPr>
          <a:xfrm rot="5400000">
            <a:off x="265680" y="4708800"/>
            <a:ext cx="169200" cy="714240"/>
          </a:xfrm>
          <a:prstGeom prst="rect">
            <a:avLst/>
          </a:prstGeom>
          <a:solidFill>
            <a:srgbClr val="9FBD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" name="Google Shape;12;p2"/>
          <p:cNvSpPr/>
          <p:nvPr/>
        </p:nvSpPr>
        <p:spPr>
          <a:xfrm rot="5400000">
            <a:off x="1412640" y="4273560"/>
            <a:ext cx="169200" cy="1584360"/>
          </a:xfrm>
          <a:prstGeom prst="rect">
            <a:avLst/>
          </a:prstGeom>
          <a:solidFill>
            <a:srgbClr val="9790F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364680" y="1644480"/>
            <a:ext cx="8413920" cy="1069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6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91;p14"/>
          <p:cNvSpPr/>
          <p:nvPr/>
        </p:nvSpPr>
        <p:spPr>
          <a:xfrm rot="5400000">
            <a:off x="5634360" y="1631880"/>
            <a:ext cx="169200" cy="6867360"/>
          </a:xfrm>
          <a:prstGeom prst="rect">
            <a:avLst/>
          </a:prstGeom>
          <a:solidFill>
            <a:srgbClr val="4353B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" name="Google Shape;92;p14"/>
          <p:cNvSpPr/>
          <p:nvPr/>
        </p:nvSpPr>
        <p:spPr>
          <a:xfrm rot="5400000">
            <a:off x="265680" y="4708800"/>
            <a:ext cx="169200" cy="714240"/>
          </a:xfrm>
          <a:prstGeom prst="rect">
            <a:avLst/>
          </a:prstGeom>
          <a:solidFill>
            <a:srgbClr val="9FBD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0" name="Google Shape;93;p14"/>
          <p:cNvSpPr/>
          <p:nvPr/>
        </p:nvSpPr>
        <p:spPr>
          <a:xfrm rot="5400000">
            <a:off x="1412640" y="4273560"/>
            <a:ext cx="169200" cy="1584360"/>
          </a:xfrm>
          <a:prstGeom prst="rect">
            <a:avLst/>
          </a:prstGeom>
          <a:solidFill>
            <a:srgbClr val="9790F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1" name="PlaceHolder 1"/>
          <p:cNvSpPr>
            <a:spLocks noGrp="1"/>
          </p:cNvSpPr>
          <p:nvPr>
            <p:ph type="body"/>
          </p:nvPr>
        </p:nvSpPr>
        <p:spPr>
          <a:xfrm>
            <a:off x="704880" y="1219680"/>
            <a:ext cx="3320640" cy="3053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2" name="PlaceHolder 2"/>
          <p:cNvSpPr>
            <a:spLocks noGrp="1"/>
          </p:cNvSpPr>
          <p:nvPr>
            <p:ph type="title"/>
          </p:nvPr>
        </p:nvSpPr>
        <p:spPr>
          <a:xfrm>
            <a:off x="704880" y="376200"/>
            <a:ext cx="77335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97;p15"/>
          <p:cNvSpPr/>
          <p:nvPr/>
        </p:nvSpPr>
        <p:spPr>
          <a:xfrm rot="5400000">
            <a:off x="5634360" y="1631880"/>
            <a:ext cx="169200" cy="6867360"/>
          </a:xfrm>
          <a:prstGeom prst="rect">
            <a:avLst/>
          </a:prstGeom>
          <a:solidFill>
            <a:srgbClr val="4353B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4" name="Google Shape;98;p15"/>
          <p:cNvSpPr/>
          <p:nvPr/>
        </p:nvSpPr>
        <p:spPr>
          <a:xfrm rot="5400000">
            <a:off x="265680" y="4708800"/>
            <a:ext cx="169200" cy="714240"/>
          </a:xfrm>
          <a:prstGeom prst="rect">
            <a:avLst/>
          </a:prstGeom>
          <a:solidFill>
            <a:srgbClr val="9FBD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5" name="Google Shape;99;p15"/>
          <p:cNvSpPr/>
          <p:nvPr/>
        </p:nvSpPr>
        <p:spPr>
          <a:xfrm rot="5400000">
            <a:off x="1412640" y="4273560"/>
            <a:ext cx="169200" cy="1584360"/>
          </a:xfrm>
          <a:prstGeom prst="rect">
            <a:avLst/>
          </a:prstGeom>
          <a:solidFill>
            <a:srgbClr val="9790F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945000" y="1102680"/>
            <a:ext cx="7043040" cy="705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48;p20"/>
          <p:cNvSpPr/>
          <p:nvPr/>
        </p:nvSpPr>
        <p:spPr>
          <a:xfrm>
            <a:off x="-4680" y="-18000"/>
            <a:ext cx="9143640" cy="4999320"/>
          </a:xfrm>
          <a:prstGeom prst="rect">
            <a:avLst/>
          </a:prstGeom>
          <a:solidFill>
            <a:srgbClr val="FFFFFF">
              <a:alpha val="77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9" name="Google Shape;149;p20"/>
          <p:cNvSpPr/>
          <p:nvPr/>
        </p:nvSpPr>
        <p:spPr>
          <a:xfrm rot="5400000">
            <a:off x="5634360" y="1631880"/>
            <a:ext cx="169200" cy="6867360"/>
          </a:xfrm>
          <a:prstGeom prst="rect">
            <a:avLst/>
          </a:prstGeom>
          <a:solidFill>
            <a:srgbClr val="4353B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0" name="Google Shape;150;p20"/>
          <p:cNvSpPr/>
          <p:nvPr/>
        </p:nvSpPr>
        <p:spPr>
          <a:xfrm rot="5400000">
            <a:off x="265680" y="4708800"/>
            <a:ext cx="169200" cy="714240"/>
          </a:xfrm>
          <a:prstGeom prst="rect">
            <a:avLst/>
          </a:prstGeom>
          <a:solidFill>
            <a:srgbClr val="9FBD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1" name="Google Shape;151;p20"/>
          <p:cNvSpPr/>
          <p:nvPr/>
        </p:nvSpPr>
        <p:spPr>
          <a:xfrm rot="5400000">
            <a:off x="1412640" y="4273560"/>
            <a:ext cx="169200" cy="1584360"/>
          </a:xfrm>
          <a:prstGeom prst="rect">
            <a:avLst/>
          </a:prstGeom>
          <a:solidFill>
            <a:srgbClr val="9790F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990080" y="376200"/>
            <a:ext cx="5163120" cy="816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49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3" name="Google Shape;155;p20"/>
          <p:cNvSpPr/>
          <p:nvPr/>
        </p:nvSpPr>
        <p:spPr>
          <a:xfrm>
            <a:off x="2287440" y="3656880"/>
            <a:ext cx="4568760" cy="530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algn="ctr" defTabSz="914400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en" sz="1000" b="0" u="none" strike="noStrike">
                <a:solidFill>
                  <a:schemeClr val="dk2"/>
                </a:solidFill>
                <a:effectLst/>
                <a:uFillTx/>
                <a:latin typeface="Inter"/>
                <a:ea typeface="Inter"/>
              </a:rPr>
              <a:t>CREDITS: This presentation template was created by </a:t>
            </a:r>
            <a:r>
              <a:rPr lang="en" sz="1000" b="1" u="sng" strike="noStrike">
                <a:solidFill>
                  <a:schemeClr val="lt2"/>
                </a:solidFill>
                <a:effectLst/>
                <a:uFillTx/>
                <a:latin typeface="Inter"/>
                <a:ea typeface="Inter"/>
                <a:hlinkClick r:id="rId2"/>
              </a:rPr>
              <a:t>Slidesgo</a:t>
            </a:r>
            <a:r>
              <a:rPr lang="en" sz="1000" b="1" u="none" strike="noStrike">
                <a:solidFill>
                  <a:schemeClr val="lt2"/>
                </a:solidFill>
                <a:effectLst/>
                <a:uFillTx/>
                <a:latin typeface="Inter"/>
                <a:ea typeface="Inter"/>
              </a:rPr>
              <a:t>,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algn="ctr" defTabSz="914400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en" sz="1000" b="0" u="none" strike="noStrike">
                <a:solidFill>
                  <a:schemeClr val="dk2"/>
                </a:solidFill>
                <a:effectLst/>
                <a:uFillTx/>
                <a:latin typeface="Inter"/>
                <a:ea typeface="Inter"/>
              </a:rPr>
              <a:t>including icons, infographics &amp; images by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Inter"/>
                <a:ea typeface="Inter"/>
              </a:rPr>
              <a:t> </a:t>
            </a:r>
            <a:r>
              <a:rPr lang="en" sz="1000" b="1" u="sng" strike="noStrike">
                <a:solidFill>
                  <a:schemeClr val="lt2"/>
                </a:solidFill>
                <a:effectLst/>
                <a:uFillTx/>
                <a:latin typeface="Inter"/>
                <a:ea typeface="Inter"/>
                <a:hlinkClick r:id="rId3"/>
              </a:rPr>
              <a:t>Freepik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 rot="5400000">
            <a:off x="5634360" y="1631880"/>
            <a:ext cx="169200" cy="6867360"/>
          </a:xfrm>
          <a:prstGeom prst="rect">
            <a:avLst/>
          </a:prstGeom>
          <a:solidFill>
            <a:srgbClr val="4353B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5" name="Google Shape;25;p4"/>
          <p:cNvSpPr/>
          <p:nvPr/>
        </p:nvSpPr>
        <p:spPr>
          <a:xfrm rot="5400000">
            <a:off x="265680" y="4708800"/>
            <a:ext cx="169200" cy="714240"/>
          </a:xfrm>
          <a:prstGeom prst="rect">
            <a:avLst/>
          </a:prstGeom>
          <a:solidFill>
            <a:srgbClr val="9FBD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6" name="Google Shape;26;p4"/>
          <p:cNvSpPr/>
          <p:nvPr/>
        </p:nvSpPr>
        <p:spPr>
          <a:xfrm rot="5400000">
            <a:off x="1412640" y="4273560"/>
            <a:ext cx="169200" cy="1584360"/>
          </a:xfrm>
          <a:prstGeom prst="rect">
            <a:avLst/>
          </a:prstGeom>
          <a:solidFill>
            <a:srgbClr val="9790F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7" name="PlaceHolder 1"/>
          <p:cNvSpPr>
            <a:spLocks noGrp="1"/>
          </p:cNvSpPr>
          <p:nvPr>
            <p:ph type="body"/>
          </p:nvPr>
        </p:nvSpPr>
        <p:spPr>
          <a:xfrm>
            <a:off x="704880" y="1179360"/>
            <a:ext cx="7733520" cy="341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28" name="PlaceHolder 2"/>
          <p:cNvSpPr>
            <a:spLocks noGrp="1"/>
          </p:cNvSpPr>
          <p:nvPr>
            <p:ph type="title"/>
          </p:nvPr>
        </p:nvSpPr>
        <p:spPr>
          <a:xfrm>
            <a:off x="704880" y="376200"/>
            <a:ext cx="77335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176;p26"/>
          <p:cNvGrpSpPr/>
          <p:nvPr/>
        </p:nvGrpSpPr>
        <p:grpSpPr>
          <a:xfrm>
            <a:off x="4156920" y="3017160"/>
            <a:ext cx="678240" cy="97920"/>
            <a:chOff x="4156920" y="3017160"/>
            <a:chExt cx="678240" cy="97920"/>
          </a:xfrm>
        </p:grpSpPr>
        <p:sp>
          <p:nvSpPr>
            <p:cNvPr id="30" name="Google Shape;177;p26"/>
            <p:cNvSpPr/>
            <p:nvPr/>
          </p:nvSpPr>
          <p:spPr>
            <a:xfrm rot="10800000" flipH="1">
              <a:off x="4156920" y="3017160"/>
              <a:ext cx="97920" cy="97920"/>
            </a:xfrm>
            <a:prstGeom prst="rect">
              <a:avLst/>
            </a:prstGeom>
            <a:solidFill>
              <a:srgbClr val="4353B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960" bIns="489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" name="Google Shape;178;p26"/>
            <p:cNvSpPr/>
            <p:nvPr/>
          </p:nvSpPr>
          <p:spPr>
            <a:xfrm rot="10800000" flipH="1">
              <a:off x="4447080" y="3017160"/>
              <a:ext cx="97920" cy="97920"/>
            </a:xfrm>
            <a:prstGeom prst="rect">
              <a:avLst/>
            </a:prstGeom>
            <a:solidFill>
              <a:srgbClr val="9790F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960" bIns="489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" name="Google Shape;179;p26"/>
            <p:cNvSpPr/>
            <p:nvPr/>
          </p:nvSpPr>
          <p:spPr>
            <a:xfrm rot="10800000" flipH="1">
              <a:off x="4737240" y="3017160"/>
              <a:ext cx="97920" cy="97920"/>
            </a:xfrm>
            <a:prstGeom prst="rect">
              <a:avLst/>
            </a:prstGeom>
            <a:solidFill>
              <a:srgbClr val="9FBD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960" bIns="489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33" name="Rectangle 32"/>
          <p:cNvSpPr/>
          <p:nvPr/>
        </p:nvSpPr>
        <p:spPr>
          <a:xfrm>
            <a:off x="361800" y="1647720"/>
            <a:ext cx="8410320" cy="76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 fontScale="47500" lnSpcReduction="20000"/>
          </a:bodyPr>
          <a:lstStyle/>
          <a:p>
            <a:pPr algn="ctr">
              <a:tabLst>
                <a:tab pos="0" algn="l"/>
              </a:tabLst>
            </a:pPr>
            <a:r>
              <a:rPr lang="en-US" sz="6000" b="1" dirty="0"/>
              <a:t>Auto Loan Securitization Analytics Dashboard</a:t>
            </a:r>
            <a:endParaRPr lang="en-US" sz="6000" b="1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1276200" y="3448080"/>
            <a:ext cx="65815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algn="ctr">
              <a:lnSpc>
                <a:spcPct val="150000"/>
              </a:lnSpc>
              <a:tabLst>
                <a:tab pos="0" algn="l"/>
              </a:tabLst>
            </a:pPr>
            <a:r>
              <a:rPr lang="en-IN" sz="1600" dirty="0">
                <a:solidFill>
                  <a:schemeClr val="tx2"/>
                </a:solidFill>
              </a:rPr>
              <a:t>Power BI Internship Project</a:t>
            </a:r>
            <a:endParaRPr lang="en-US" sz="1600" b="0" u="none" strike="noStrike" dirty="0">
              <a:solidFill>
                <a:schemeClr val="tx2"/>
              </a:solidFill>
              <a:effectLst/>
              <a:uFillTx/>
              <a:latin typeface="OpenSymbo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1B16870-393D-13E4-EC97-E9A28C557D6E}"/>
              </a:ext>
            </a:extLst>
          </p:cNvPr>
          <p:cNvSpPr/>
          <p:nvPr/>
        </p:nvSpPr>
        <p:spPr>
          <a:xfrm>
            <a:off x="2333767" y="648269"/>
            <a:ext cx="2238233" cy="81886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5009C7-321E-C064-DE44-E47C1E00399D}"/>
              </a:ext>
            </a:extLst>
          </p:cNvPr>
          <p:cNvSpPr txBox="1"/>
          <p:nvPr/>
        </p:nvSpPr>
        <p:spPr>
          <a:xfrm>
            <a:off x="3623481" y="3873850"/>
            <a:ext cx="43297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>
                <a:solidFill>
                  <a:schemeClr val="tx2"/>
                </a:solidFill>
              </a:rPr>
              <a:t>Developed by Sai Krishna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/>
          <p:cNvSpPr/>
          <p:nvPr/>
        </p:nvSpPr>
        <p:spPr>
          <a:xfrm>
            <a:off x="529569" y="941696"/>
            <a:ext cx="4683875" cy="383028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lnSpcReduction="9999"/>
          </a:bodyPr>
          <a:lstStyle/>
          <a:p>
            <a:pPr marL="285750" indent="-285750">
              <a:lnSpc>
                <a:spcPct val="109999"/>
              </a:lnSpc>
              <a:buFont typeface="Wingdings" panose="05000000000000000000" pitchFamily="2" charset="2"/>
              <a:buChar char="Ø"/>
              <a:tabLst>
                <a:tab pos="0" algn="l"/>
              </a:tabLst>
            </a:pPr>
            <a:r>
              <a:rPr lang="en-US" sz="1600" b="1" dirty="0"/>
              <a:t>Objective:</a:t>
            </a:r>
            <a:br>
              <a:rPr lang="en-US" dirty="0"/>
            </a:br>
            <a:r>
              <a:rPr lang="en-US" sz="1300" dirty="0">
                <a:solidFill>
                  <a:schemeClr val="tx2"/>
                </a:solidFill>
              </a:rPr>
              <a:t>To analyze auto loan portfolio performance, credit risk, collections, losses, and vintage pool behavior using Power BI.</a:t>
            </a:r>
          </a:p>
          <a:p>
            <a:pPr>
              <a:lnSpc>
                <a:spcPct val="109999"/>
              </a:lnSpc>
              <a:tabLst>
                <a:tab pos="0" algn="l"/>
              </a:tabLst>
            </a:pPr>
            <a:endParaRPr lang="en-US" sz="1400" dirty="0">
              <a:solidFill>
                <a:schemeClr val="bg2">
                  <a:lumMod val="75000"/>
                </a:schemeClr>
              </a:solidFill>
            </a:endParaRPr>
          </a:p>
          <a:p>
            <a:pPr marL="285750" indent="-285750">
              <a:lnSpc>
                <a:spcPct val="109999"/>
              </a:lnSpc>
              <a:buFont typeface="Wingdings" panose="05000000000000000000" pitchFamily="2" charset="2"/>
              <a:buChar char="Ø"/>
            </a:pPr>
            <a:r>
              <a:rPr lang="en-US" sz="1600" b="1" dirty="0"/>
              <a:t>Tools Used:</a:t>
            </a:r>
          </a:p>
          <a:p>
            <a:pPr marL="285750" indent="-285750">
              <a:lnSpc>
                <a:spcPct val="109999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Power BI </a:t>
            </a:r>
          </a:p>
          <a:p>
            <a:pPr marL="285750" indent="-285750">
              <a:lnSpc>
                <a:spcPct val="109999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Excel </a:t>
            </a:r>
          </a:p>
          <a:p>
            <a:pPr marL="285750" indent="-285750">
              <a:lnSpc>
                <a:spcPct val="109999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DAX </a:t>
            </a:r>
          </a:p>
          <a:p>
            <a:pPr marL="285750" indent="-285750">
              <a:lnSpc>
                <a:spcPct val="109999"/>
              </a:lnSpc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bg2"/>
              </a:solidFill>
            </a:endParaRPr>
          </a:p>
          <a:p>
            <a:pPr marL="285750" indent="-285750">
              <a:lnSpc>
                <a:spcPct val="109999"/>
              </a:lnSpc>
              <a:buFont typeface="Wingdings" panose="05000000000000000000" pitchFamily="2" charset="2"/>
              <a:buChar char="Ø"/>
            </a:pPr>
            <a:r>
              <a:rPr lang="en-US" sz="1600" b="1" dirty="0"/>
              <a:t>Key Areas:</a:t>
            </a:r>
          </a:p>
          <a:p>
            <a:pPr marL="285750" indent="-285750">
              <a:lnSpc>
                <a:spcPct val="109999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Portfolio Overview </a:t>
            </a:r>
          </a:p>
          <a:p>
            <a:pPr marL="285750" indent="-285750">
              <a:lnSpc>
                <a:spcPct val="109999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Risk Analysis </a:t>
            </a:r>
          </a:p>
          <a:p>
            <a:pPr marL="285750" indent="-285750">
              <a:lnSpc>
                <a:spcPct val="109999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Collection Monitoring </a:t>
            </a:r>
          </a:p>
          <a:p>
            <a:pPr marL="285750" indent="-285750">
              <a:lnSpc>
                <a:spcPct val="109999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Loss Analysis </a:t>
            </a:r>
          </a:p>
          <a:p>
            <a:pPr marL="285750" indent="-285750">
              <a:lnSpc>
                <a:spcPct val="109999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Vintage Analysis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en-US" sz="1400" b="0" u="none" strike="noStrike" dirty="0">
              <a:solidFill>
                <a:schemeClr val="bg2">
                  <a:lumMod val="75000"/>
                </a:schemeClr>
              </a:solidFill>
              <a:effectLst/>
              <a:uFillTx/>
              <a:latin typeface="OpenSymbol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704880" y="371520"/>
            <a:ext cx="7733880" cy="38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70000" lnSpcReduction="20000"/>
          </a:bodyPr>
          <a:lstStyle/>
          <a:p>
            <a:pPr algn="ctr">
              <a:tabLst>
                <a:tab pos="0" algn="l"/>
              </a:tabLst>
            </a:pPr>
            <a:r>
              <a:rPr lang="en-IN" sz="3200" b="1" dirty="0"/>
              <a:t>Project Overview</a:t>
            </a:r>
            <a:endParaRPr lang="en-US" sz="3000" b="1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0E632F-D3FE-70F9-83E3-D919E7FB8D7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1884" y="1357099"/>
            <a:ext cx="4683875" cy="242930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/>
          <p:cNvSpPr/>
          <p:nvPr/>
        </p:nvSpPr>
        <p:spPr>
          <a:xfrm>
            <a:off x="585462" y="885713"/>
            <a:ext cx="1407111" cy="3693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marL="285750" indent="-285750">
              <a:buFont typeface="Wingdings" panose="05000000000000000000" pitchFamily="2" charset="2"/>
              <a:buChar char="Ø"/>
              <a:tabLst>
                <a:tab pos="0" algn="l"/>
              </a:tabLst>
            </a:pPr>
            <a:r>
              <a:rPr lang="en-IN" sz="1700" dirty="0"/>
              <a:t>Content: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939699" y="235109"/>
            <a:ext cx="3290503" cy="56328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>
              <a:tabLst>
                <a:tab pos="0" algn="l"/>
              </a:tabLst>
            </a:pPr>
            <a:r>
              <a:rPr lang="en-IN" sz="2200" b="1" dirty="0"/>
              <a:t>Dataset Overview</a:t>
            </a:r>
            <a:endParaRPr lang="en-US" sz="2200" b="1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7E83864-3DE8-3EDA-C715-DEED19868312}"/>
              </a:ext>
            </a:extLst>
          </p:cNvPr>
          <p:cNvSpPr/>
          <p:nvPr/>
        </p:nvSpPr>
        <p:spPr>
          <a:xfrm>
            <a:off x="1262418" y="1542197"/>
            <a:ext cx="2231409" cy="282508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E71FC2E7-D08F-79A2-C8BC-4A59BAAD7E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013877"/>
              </p:ext>
            </p:extLst>
          </p:nvPr>
        </p:nvGraphicFramePr>
        <p:xfrm>
          <a:off x="634621" y="1255045"/>
          <a:ext cx="5718411" cy="2311883"/>
        </p:xfrm>
        <a:graphic>
          <a:graphicData uri="http://schemas.openxmlformats.org/drawingml/2006/table">
            <a:tbl>
              <a:tblPr/>
              <a:tblGrid>
                <a:gridCol w="2479785">
                  <a:extLst>
                    <a:ext uri="{9D8B030D-6E8A-4147-A177-3AD203B41FA5}">
                      <a16:colId xmlns:a16="http://schemas.microsoft.com/office/drawing/2014/main" val="2295043295"/>
                    </a:ext>
                  </a:extLst>
                </a:gridCol>
                <a:gridCol w="3238626">
                  <a:extLst>
                    <a:ext uri="{9D8B030D-6E8A-4147-A177-3AD203B41FA5}">
                      <a16:colId xmlns:a16="http://schemas.microsoft.com/office/drawing/2014/main" val="1187593952"/>
                    </a:ext>
                  </a:extLst>
                </a:gridCol>
              </a:tblGrid>
              <a:tr h="232561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5059022"/>
                  </a:ext>
                </a:extLst>
              </a:tr>
              <a:tr h="321948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lang="en-IN" sz="1400" dirty="0"/>
                        <a:t>Dataset: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lang="en-IN" sz="1400" dirty="0"/>
                        <a:t>Purpose: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9976712"/>
                  </a:ext>
                </a:extLst>
              </a:tr>
              <a:tr h="459253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solidFill>
                            <a:schemeClr val="tx2"/>
                          </a:solidFill>
                        </a:rPr>
                        <a:t>Auto Loan Securitisation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solidFill>
                            <a:schemeClr val="tx2"/>
                          </a:solidFill>
                        </a:rPr>
                        <a:t>Portfolio Overview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9781253"/>
                  </a:ext>
                </a:extLst>
              </a:tr>
              <a:tr h="1106015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solidFill>
                            <a:schemeClr val="tx2"/>
                          </a:solidFill>
                        </a:rPr>
                        <a:t>DPD Snapshot History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solidFill>
                            <a:schemeClr val="tx2"/>
                          </a:solidFill>
                        </a:rPr>
                        <a:t>Dynamic Loss Monthly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solidFill>
                            <a:schemeClr val="tx2"/>
                          </a:solidFill>
                        </a:rPr>
                        <a:t>Static Pool Vintage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solidFill>
                            <a:schemeClr val="tx2"/>
                          </a:solidFill>
                        </a:rPr>
                        <a:t>Delinquency Monitoring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solidFill>
                            <a:schemeClr val="tx2"/>
                          </a:solidFill>
                        </a:rPr>
                        <a:t>Loss Analysis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solidFill>
                            <a:schemeClr val="tx2"/>
                          </a:solidFill>
                        </a:rPr>
                        <a:t>Vintage Performance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4913883"/>
                  </a:ext>
                </a:extLst>
              </a:tr>
            </a:tbl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CB42DDD5-0D48-29B3-F42E-D5DAB643F2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9757" y="798393"/>
            <a:ext cx="34290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/>
          <p:cNvSpPr/>
          <p:nvPr/>
        </p:nvSpPr>
        <p:spPr>
          <a:xfrm>
            <a:off x="348018" y="880281"/>
            <a:ext cx="3548418" cy="370536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 lnSpcReduction="19999"/>
          </a:bodyPr>
          <a:lstStyle/>
          <a:p>
            <a:pPr>
              <a:lnSpc>
                <a:spcPct val="169999"/>
              </a:lnSpc>
            </a:pPr>
            <a:r>
              <a:rPr lang="en-IN" sz="1700" b="1" dirty="0"/>
              <a:t>Key Metrics:</a:t>
            </a:r>
          </a:p>
          <a:p>
            <a:pPr marL="285750" indent="-285750">
              <a:lnSpc>
                <a:spcPct val="169999"/>
              </a:lnSpc>
              <a:buFont typeface="Arial" panose="020B0604020202020204" pitchFamily="34" charset="0"/>
              <a:buChar char="•"/>
            </a:pPr>
            <a:r>
              <a:rPr lang="en-IN" sz="1500" dirty="0">
                <a:solidFill>
                  <a:schemeClr val="tx2"/>
                </a:solidFill>
              </a:rPr>
              <a:t>Total Loan Amount </a:t>
            </a:r>
          </a:p>
          <a:p>
            <a:pPr marL="285750" indent="-285750">
              <a:lnSpc>
                <a:spcPct val="119999"/>
              </a:lnSpc>
              <a:buFont typeface="Arial" panose="020B0604020202020204" pitchFamily="34" charset="0"/>
              <a:buChar char="•"/>
            </a:pPr>
            <a:r>
              <a:rPr lang="en-IN" sz="1500" dirty="0">
                <a:solidFill>
                  <a:schemeClr val="tx2"/>
                </a:solidFill>
              </a:rPr>
              <a:t>Average Interest Rate </a:t>
            </a:r>
          </a:p>
          <a:p>
            <a:pPr marL="285750" indent="-285750">
              <a:lnSpc>
                <a:spcPct val="119999"/>
              </a:lnSpc>
              <a:buFont typeface="Arial" panose="020B0604020202020204" pitchFamily="34" charset="0"/>
              <a:buChar char="•"/>
            </a:pPr>
            <a:r>
              <a:rPr lang="en-IN" sz="1500" dirty="0">
                <a:solidFill>
                  <a:schemeClr val="tx2"/>
                </a:solidFill>
              </a:rPr>
              <a:t>Total Customers </a:t>
            </a:r>
          </a:p>
          <a:p>
            <a:pPr marL="285750" indent="-285750">
              <a:lnSpc>
                <a:spcPct val="119999"/>
              </a:lnSpc>
              <a:buFont typeface="Arial" panose="020B0604020202020204" pitchFamily="34" charset="0"/>
              <a:buChar char="•"/>
            </a:pPr>
            <a:r>
              <a:rPr lang="en-IN" sz="1500" dirty="0">
                <a:solidFill>
                  <a:schemeClr val="tx2"/>
                </a:solidFill>
              </a:rPr>
              <a:t>Average CIBIL Score </a:t>
            </a:r>
          </a:p>
          <a:p>
            <a:pPr marL="285750" indent="-285750">
              <a:lnSpc>
                <a:spcPct val="119999"/>
              </a:lnSpc>
              <a:buFont typeface="Arial" panose="020B0604020202020204" pitchFamily="34" charset="0"/>
              <a:buChar char="•"/>
            </a:pPr>
            <a:r>
              <a:rPr lang="en-IN" sz="1500" dirty="0">
                <a:solidFill>
                  <a:schemeClr val="tx2"/>
                </a:solidFill>
              </a:rPr>
              <a:t>Vehicle Distribution </a:t>
            </a:r>
          </a:p>
          <a:p>
            <a:pPr>
              <a:lnSpc>
                <a:spcPct val="119999"/>
              </a:lnSpc>
            </a:pPr>
            <a:endParaRPr lang="en-IN" sz="1500" dirty="0">
              <a:solidFill>
                <a:schemeClr val="bg2"/>
              </a:solidFill>
            </a:endParaRPr>
          </a:p>
          <a:p>
            <a:pPr>
              <a:lnSpc>
                <a:spcPct val="169999"/>
              </a:lnSpc>
            </a:pPr>
            <a:r>
              <a:rPr lang="en-IN" sz="1700" b="1" dirty="0"/>
              <a:t>Insights:</a:t>
            </a:r>
          </a:p>
          <a:p>
            <a:pPr marL="285750" indent="-285750">
              <a:lnSpc>
                <a:spcPct val="119999"/>
              </a:lnSpc>
              <a:buFont typeface="Arial" panose="020B0604020202020204" pitchFamily="34" charset="0"/>
              <a:buChar char="•"/>
            </a:pPr>
            <a:r>
              <a:rPr lang="en-IN" sz="1500" dirty="0">
                <a:solidFill>
                  <a:schemeClr val="tx2"/>
                </a:solidFill>
              </a:rPr>
              <a:t>Loan portfolio spread across multiple vehicle types. </a:t>
            </a:r>
          </a:p>
          <a:p>
            <a:pPr marL="285750" indent="-285750">
              <a:lnSpc>
                <a:spcPct val="119999"/>
              </a:lnSpc>
              <a:buFont typeface="Arial" panose="020B0604020202020204" pitchFamily="34" charset="0"/>
              <a:buChar char="•"/>
            </a:pPr>
            <a:r>
              <a:rPr lang="en-IN" sz="1500" dirty="0">
                <a:solidFill>
                  <a:schemeClr val="tx2"/>
                </a:solidFill>
              </a:rPr>
              <a:t>Significant exposure in specific vehicle segments. </a:t>
            </a:r>
          </a:p>
          <a:p>
            <a:pPr marL="285750" indent="-285750">
              <a:lnSpc>
                <a:spcPct val="119999"/>
              </a:lnSpc>
              <a:buFont typeface="Arial" panose="020B0604020202020204" pitchFamily="34" charset="0"/>
              <a:buChar char="•"/>
            </a:pPr>
            <a:r>
              <a:rPr lang="en-IN" sz="1500" dirty="0">
                <a:solidFill>
                  <a:schemeClr val="tx2"/>
                </a:solidFill>
              </a:rPr>
              <a:t>Portfolio composition helps identify growth opportunities.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355384" y="401980"/>
            <a:ext cx="7038720" cy="38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70000" lnSpcReduction="20000"/>
          </a:bodyPr>
          <a:lstStyle/>
          <a:p>
            <a:pPr>
              <a:tabLst>
                <a:tab pos="0" algn="l"/>
              </a:tabLst>
            </a:pPr>
            <a:r>
              <a:rPr lang="en-IN" sz="3200" b="1" dirty="0"/>
              <a:t>Auto Loan Portfolio Overview</a:t>
            </a:r>
            <a:endParaRPr lang="en-US" sz="3000" b="1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19CB4C6-7002-8DF9-689F-90565DB311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6436" y="985285"/>
            <a:ext cx="5083791" cy="334276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/>
          <p:cNvSpPr/>
          <p:nvPr/>
        </p:nvSpPr>
        <p:spPr>
          <a:xfrm>
            <a:off x="259308" y="982639"/>
            <a:ext cx="3303648" cy="381760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lnSpcReduction="9999"/>
          </a:bodyPr>
          <a:lstStyle/>
          <a:p>
            <a:pPr marL="285750" indent="-285750">
              <a:lnSpc>
                <a:spcPct val="159999"/>
              </a:lnSpc>
              <a:buFont typeface="Wingdings" panose="05000000000000000000" pitchFamily="2" charset="2"/>
              <a:buChar char="Ø"/>
            </a:pPr>
            <a:r>
              <a:rPr lang="en-IN" sz="1600" b="1" dirty="0"/>
              <a:t>Key Metrics:</a:t>
            </a:r>
          </a:p>
          <a:p>
            <a:pPr marL="285750" indent="-285750">
              <a:lnSpc>
                <a:spcPct val="109999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2"/>
                </a:solidFill>
              </a:rPr>
              <a:t>Average CIBIL Score </a:t>
            </a:r>
          </a:p>
          <a:p>
            <a:pPr marL="285750" indent="-285750">
              <a:lnSpc>
                <a:spcPct val="109999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2"/>
                </a:solidFill>
              </a:rPr>
              <a:t>Average DTI Ratio </a:t>
            </a:r>
          </a:p>
          <a:p>
            <a:pPr marL="285750" indent="-285750">
              <a:lnSpc>
                <a:spcPct val="109999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2"/>
                </a:solidFill>
              </a:rPr>
              <a:t>Delinquency Days </a:t>
            </a:r>
          </a:p>
          <a:p>
            <a:pPr marL="285750" indent="-285750">
              <a:lnSpc>
                <a:spcPct val="109999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2"/>
                </a:solidFill>
              </a:rPr>
              <a:t>Net Loss </a:t>
            </a:r>
          </a:p>
          <a:p>
            <a:pPr marL="285750" indent="-285750">
              <a:lnSpc>
                <a:spcPct val="109999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2"/>
                </a:solidFill>
              </a:rPr>
              <a:t>IFRS9 Stage Distribution </a:t>
            </a:r>
          </a:p>
          <a:p>
            <a:pPr marL="285750" indent="-285750">
              <a:lnSpc>
                <a:spcPct val="159999"/>
              </a:lnSpc>
              <a:buFont typeface="Wingdings" panose="05000000000000000000" pitchFamily="2" charset="2"/>
              <a:buChar char="Ø"/>
            </a:pPr>
            <a:r>
              <a:rPr lang="en-IN" sz="1600" b="1" dirty="0"/>
              <a:t>Insights:</a:t>
            </a:r>
          </a:p>
          <a:p>
            <a:pPr marL="285750" indent="-285750">
              <a:lnSpc>
                <a:spcPct val="109999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2"/>
                </a:solidFill>
              </a:rPr>
              <a:t>Higher delinquency observed in specific customer segments. </a:t>
            </a:r>
          </a:p>
          <a:p>
            <a:pPr marL="285750" indent="-285750">
              <a:lnSpc>
                <a:spcPct val="109999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2"/>
                </a:solidFill>
              </a:rPr>
              <a:t>IFRS9 classification helps identify risky accounts. </a:t>
            </a:r>
          </a:p>
          <a:p>
            <a:pPr marL="285750" indent="-285750">
              <a:lnSpc>
                <a:spcPct val="109999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2"/>
                </a:solidFill>
              </a:rPr>
              <a:t>Net loss trends indicate portfolio risk concentration.</a:t>
            </a: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704880" y="371520"/>
            <a:ext cx="7733880" cy="38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70000" lnSpcReduction="20000"/>
          </a:bodyPr>
          <a:lstStyle/>
          <a:p>
            <a:pPr algn="ctr">
              <a:tabLst>
                <a:tab pos="0" algn="l"/>
              </a:tabLst>
            </a:pPr>
            <a:r>
              <a:rPr lang="en-IN" sz="3200" b="1" dirty="0"/>
              <a:t>Loan Risk &amp; Delinquency Analysis</a:t>
            </a:r>
            <a:endParaRPr lang="en-US" sz="3000" b="1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CC2D228-019D-972E-9047-A932FA4A35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9707" y="1035256"/>
            <a:ext cx="5589699" cy="323293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/>
          <p:cNvSpPr/>
          <p:nvPr/>
        </p:nvSpPr>
        <p:spPr>
          <a:xfrm>
            <a:off x="1781032" y="218364"/>
            <a:ext cx="5827595" cy="51861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9999"/>
          </a:bodyPr>
          <a:lstStyle/>
          <a:p>
            <a:pPr>
              <a:tabLst>
                <a:tab pos="0" algn="l"/>
              </a:tabLst>
            </a:pPr>
            <a:r>
              <a:rPr lang="en-IN" sz="2400" b="1" dirty="0"/>
              <a:t>Portfolio Performance &amp; Collection Dashboard</a:t>
            </a:r>
            <a:endParaRPr lang="en-US" sz="2400" b="1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197894" y="934872"/>
            <a:ext cx="3525134" cy="30707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77500" lnSpcReduction="20000"/>
          </a:bodyPr>
          <a:lstStyle/>
          <a:p>
            <a:pPr marL="285750" indent="-285750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sz="1700" b="1" dirty="0"/>
              <a:t>Key Metrics: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Outstanding Balance 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Overdue Amount 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Average DPD Days 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Active Loans 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Repossessed Accounts </a:t>
            </a:r>
          </a:p>
          <a:p>
            <a:pPr marL="285750" indent="-285750"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US" sz="1700" b="1" dirty="0"/>
              <a:t>Insights: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DPD bucket analysis highlights overdue loan distribution. 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Collection trends indicate recovery effectiveness. 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SMA classifications help monitor stressed accounts.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E47E1A6-5925-0F76-02D9-DCA4E45C52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7677" y="934872"/>
            <a:ext cx="5666669" cy="325499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/>
          <p:cNvSpPr/>
          <p:nvPr/>
        </p:nvSpPr>
        <p:spPr>
          <a:xfrm>
            <a:off x="2456597" y="298859"/>
            <a:ext cx="4967786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>
              <a:tabLst>
                <a:tab pos="0" algn="l"/>
              </a:tabLst>
            </a:pPr>
            <a:r>
              <a:rPr lang="en-IN" sz="2200" b="1" dirty="0"/>
              <a:t>Dynamic Loss &amp; Recovery Analysis</a:t>
            </a:r>
            <a:endParaRPr lang="en-US" sz="2200" b="1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5048280" y="3333600"/>
            <a:ext cx="361908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lnSpcReduction="10000"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D20C030-0A5D-374B-2233-63DE316305DC}"/>
              </a:ext>
            </a:extLst>
          </p:cNvPr>
          <p:cNvSpPr/>
          <p:nvPr/>
        </p:nvSpPr>
        <p:spPr>
          <a:xfrm>
            <a:off x="620973" y="1057701"/>
            <a:ext cx="2163170" cy="341876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53606E-BD83-08FA-56CA-DC72EA20D155}"/>
              </a:ext>
            </a:extLst>
          </p:cNvPr>
          <p:cNvSpPr txBox="1"/>
          <p:nvPr/>
        </p:nvSpPr>
        <p:spPr>
          <a:xfrm>
            <a:off x="361666" y="974409"/>
            <a:ext cx="3002507" cy="2954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/>
              <a:t>Key Metrics: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Net Loss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Recovery Amount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Collection Efficiency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Monthly Default Rate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bg2"/>
              </a:solidFill>
            </a:endParaRPr>
          </a:p>
          <a:p>
            <a:pPr>
              <a:buNone/>
            </a:pPr>
            <a:r>
              <a:rPr lang="en-US" sz="1600" b="1" dirty="0"/>
              <a:t>Insights: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Recovery trends help reduce portfolio losses.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Monthly loss tracking supports proactive risk management.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Collection efficiency reflects operational performance.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C0EE92E-6139-8FB1-EBE4-C5259FC9C2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4146" y="974409"/>
            <a:ext cx="5889967" cy="341876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 52"/>
          <p:cNvSpPr/>
          <p:nvPr/>
        </p:nvSpPr>
        <p:spPr>
          <a:xfrm>
            <a:off x="450378" y="1063586"/>
            <a:ext cx="2504362" cy="268954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en-US" sz="1900" b="1" dirty="0"/>
              <a:t>Key Metrics: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Net Loss Rate 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Default Balance 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Total Recoveries 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Remaining Pool Balance 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2"/>
              </a:solidFill>
            </a:endParaRPr>
          </a:p>
          <a:p>
            <a:pPr>
              <a:lnSpc>
                <a:spcPct val="120000"/>
              </a:lnSpc>
            </a:pPr>
            <a:r>
              <a:rPr lang="en-US" sz="1900" b="1" dirty="0"/>
              <a:t>Insights: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Vintage analysis tracks long-term loan performance. 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Pool balances decline consistently over time. 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Recoveries offset losses across vintages.</a:t>
            </a: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2105280" y="306446"/>
            <a:ext cx="7038720" cy="38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70000" lnSpcReduction="20000"/>
          </a:bodyPr>
          <a:lstStyle/>
          <a:p>
            <a:pPr>
              <a:tabLst>
                <a:tab pos="0" algn="l"/>
              </a:tabLst>
            </a:pPr>
            <a:r>
              <a:rPr lang="en-IN" sz="3200" b="1" dirty="0"/>
              <a:t>Vintage Pool Performance Analysis</a:t>
            </a:r>
            <a:endParaRPr lang="en-US" sz="3000" b="1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9EFA6ED-269F-07BB-705B-5FB9A7F7D7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8085" y="961784"/>
            <a:ext cx="5562273" cy="321993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54"/>
          <p:cNvSpPr/>
          <p:nvPr/>
        </p:nvSpPr>
        <p:spPr>
          <a:xfrm>
            <a:off x="3016154" y="313899"/>
            <a:ext cx="3309583" cy="44875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>
              <a:tabLst>
                <a:tab pos="0" algn="l"/>
              </a:tabLst>
            </a:pPr>
            <a:r>
              <a:rPr lang="en-IN" sz="2200" b="1" dirty="0"/>
              <a:t>Key Business Insights</a:t>
            </a:r>
            <a:endParaRPr lang="en-US" sz="2200" b="1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476280" y="1905120"/>
            <a:ext cx="8191080" cy="1371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0872E8-588C-22E6-B699-9E21C03E38EC}"/>
              </a:ext>
            </a:extLst>
          </p:cNvPr>
          <p:cNvSpPr txBox="1"/>
          <p:nvPr/>
        </p:nvSpPr>
        <p:spPr>
          <a:xfrm>
            <a:off x="358254" y="896183"/>
            <a:ext cx="3524534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/>
              <a:t>Major Findings: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Portfolio maintains strong loan balance performance.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Delinquency concentrated in limited customer groups.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Recovery activities significantly reduce losses.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Vintage pools demonstrate stable long-term performance.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Collection efficiency remains healthy across periods.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bg2"/>
              </a:solidFill>
            </a:endParaRPr>
          </a:p>
          <a:p>
            <a:pPr>
              <a:buNone/>
            </a:pPr>
            <a:r>
              <a:rPr lang="en-US" sz="1600" b="1" dirty="0"/>
              <a:t>Business Impact: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Better risk monitoring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Improved collection strategy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Enhanced portfolio visibility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F8EDEA3-79AB-E523-7E60-1010FCCFC0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1970" y="1364776"/>
            <a:ext cx="4850661" cy="231158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CDD570B-E505-0214-52BF-9315F000C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3893" y="150125"/>
            <a:ext cx="3930556" cy="518615"/>
          </a:xfrm>
        </p:spPr>
        <p:txBody>
          <a:bodyPr/>
          <a:lstStyle/>
          <a:p>
            <a:r>
              <a:rPr lang="en-IN" sz="2200" b="1" dirty="0"/>
              <a:t>Conclusion &amp; Future Scope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2790D0B-23D4-89A3-0703-E01D2D07A67F}"/>
              </a:ext>
            </a:extLst>
          </p:cNvPr>
          <p:cNvSpPr/>
          <p:nvPr/>
        </p:nvSpPr>
        <p:spPr>
          <a:xfrm>
            <a:off x="702860" y="975815"/>
            <a:ext cx="4121624" cy="337782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FAA5D5-0239-CF9A-204B-ACCD8A8F58A9}"/>
              </a:ext>
            </a:extLst>
          </p:cNvPr>
          <p:cNvSpPr txBox="1"/>
          <p:nvPr/>
        </p:nvSpPr>
        <p:spPr>
          <a:xfrm>
            <a:off x="443553" y="789864"/>
            <a:ext cx="4756244" cy="33855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/>
              <a:t>Conclusion: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chemeClr val="tx2"/>
                </a:solidFill>
              </a:rPr>
              <a:t>Developed a comprehensive </a:t>
            </a:r>
            <a:r>
              <a:rPr lang="en-IN" sz="1200" b="1" dirty="0">
                <a:solidFill>
                  <a:schemeClr val="tx2"/>
                </a:solidFill>
              </a:rPr>
              <a:t>Auto Loan Securitization Analytics Dashboard</a:t>
            </a:r>
            <a:r>
              <a:rPr lang="en-IN" sz="1200" dirty="0">
                <a:solidFill>
                  <a:schemeClr val="tx2"/>
                </a:solidFill>
              </a:rPr>
              <a:t> using Power BI.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 err="1">
                <a:solidFill>
                  <a:schemeClr val="tx2"/>
                </a:solidFill>
              </a:rPr>
              <a:t>Analyzed</a:t>
            </a:r>
            <a:r>
              <a:rPr lang="en-IN" sz="1200" dirty="0">
                <a:solidFill>
                  <a:schemeClr val="tx2"/>
                </a:solidFill>
              </a:rPr>
              <a:t> portfolio performance, credit risk, delinquency trends, collections, losses, and vintage pool </a:t>
            </a:r>
            <a:r>
              <a:rPr lang="en-IN" sz="1200" dirty="0" err="1">
                <a:solidFill>
                  <a:schemeClr val="tx2"/>
                </a:solidFill>
              </a:rPr>
              <a:t>behavior</a:t>
            </a:r>
            <a:r>
              <a:rPr lang="en-IN" sz="1200" dirty="0">
                <a:solidFill>
                  <a:schemeClr val="tx2"/>
                </a:solidFill>
              </a:rPr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chemeClr val="tx2"/>
                </a:solidFill>
              </a:rPr>
              <a:t>Identified key risk indicators such as DPD, IFRS9 stages, net loss rates, and recovery performance.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chemeClr val="tx2"/>
                </a:solidFill>
              </a:rPr>
              <a:t>Enabled data-driven decision making through interactive dashboards and KPI monitoring.</a:t>
            </a:r>
          </a:p>
          <a:p>
            <a:r>
              <a:rPr lang="en-IN" sz="1400" dirty="0">
                <a:solidFill>
                  <a:schemeClr val="tx2"/>
                </a:solidFill>
              </a:rPr>
              <a:t> </a:t>
            </a:r>
            <a:endParaRPr lang="en-IN" sz="1400" dirty="0"/>
          </a:p>
          <a:p>
            <a:pPr>
              <a:buNone/>
            </a:pPr>
            <a:r>
              <a:rPr lang="en-IN" sz="1600" b="1" dirty="0"/>
              <a:t>Future Scope: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chemeClr val="tx2"/>
                </a:solidFill>
              </a:rPr>
              <a:t>Integrate real-time loan portfolio data.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chemeClr val="tx2"/>
                </a:solidFill>
              </a:rPr>
              <a:t>Implement predictive default risk models using Machine Learning.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chemeClr val="tx2"/>
                </a:solidFill>
              </a:rPr>
              <a:t>Enhance dashboards with drill-through reports and advanced analytics.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chemeClr val="tx2"/>
                </a:solidFill>
              </a:rPr>
              <a:t>Automate portfolio monitoring and risk alerts.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53C834B-ACC6-2540-2AA3-0BDFCDAC82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1602" y="1365673"/>
            <a:ext cx="3377083" cy="2233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3198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5BC31B5-9A18-1A69-58E7-BF112B17DB15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5338317" y="4571100"/>
            <a:ext cx="3896436" cy="572400"/>
          </a:xfrm>
        </p:spPr>
        <p:txBody>
          <a:bodyPr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Developed by Sai Krishna | </a:t>
            </a:r>
            <a:r>
              <a:rPr lang="en-US" sz="1100" dirty="0" err="1">
                <a:solidFill>
                  <a:schemeClr val="tx2"/>
                </a:solidFill>
              </a:rPr>
              <a:t>ZeTheta</a:t>
            </a:r>
            <a:r>
              <a:rPr lang="en-US" sz="1100" dirty="0">
                <a:solidFill>
                  <a:schemeClr val="tx2"/>
                </a:solidFill>
              </a:rPr>
              <a:t> Internship Project</a:t>
            </a:r>
            <a:endParaRPr lang="en-IN" sz="1100" dirty="0">
              <a:solidFill>
                <a:schemeClr val="tx2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D4CD731-DACB-6A91-C3CD-65D36A68F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4491" y="1813446"/>
            <a:ext cx="5790734" cy="1182238"/>
          </a:xfrm>
        </p:spPr>
        <p:txBody>
          <a:bodyPr/>
          <a:lstStyle/>
          <a:p>
            <a:r>
              <a:rPr lang="en-IN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846369536"/>
      </p:ext>
    </p:extLst>
  </p:cSld>
  <p:clrMapOvr>
    <a:masterClrMapping/>
  </p:clrMapOvr>
</p:sld>
</file>

<file path=ppt/theme/theme1.xml><?xml version="1.0" encoding="utf-8"?>
<a:theme xmlns:a="http://schemas.openxmlformats.org/drawingml/2006/main" name="Lilac business Minitheme by Slidesgo">
  <a:themeElements>
    <a:clrScheme name="Simple Light">
      <a:dk1>
        <a:srgbClr val="3B4088"/>
      </a:dk1>
      <a:lt1>
        <a:srgbClr val="FFFFFF"/>
      </a:lt1>
      <a:dk2>
        <a:srgbClr val="595959"/>
      </a:dk2>
      <a:lt2>
        <a:srgbClr val="4353BF"/>
      </a:lt2>
      <a:accent1>
        <a:srgbClr val="D9D9D9"/>
      </a:accent1>
      <a:accent2>
        <a:srgbClr val="9FBDFF"/>
      </a:accent2>
      <a:accent3>
        <a:srgbClr val="909DEF"/>
      </a:accent3>
      <a:accent4>
        <a:srgbClr val="9790F4"/>
      </a:accent4>
      <a:accent5>
        <a:srgbClr val="FFFFFF"/>
      </a:accent5>
      <a:accent6>
        <a:srgbClr val="FFFFFF"/>
      </a:accent6>
      <a:hlink>
        <a:srgbClr val="3F54C5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195</TotalTime>
  <Words>465</Words>
  <Application>Microsoft Office PowerPoint</Application>
  <PresentationFormat>On-screen Show (16:9)</PresentationFormat>
  <Paragraphs>111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Inter</vt:lpstr>
      <vt:lpstr>OpenSymbol</vt:lpstr>
      <vt:lpstr>Symbol</vt:lpstr>
      <vt:lpstr>Wingdings</vt:lpstr>
      <vt:lpstr>Lilac business Minitheme by Slidesgo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 &amp; Future Scope</vt:lpstr>
      <vt:lpstr>THANK YOU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lucifer_ 0425</cp:lastModifiedBy>
  <cp:revision>5</cp:revision>
  <dcterms:modified xsi:type="dcterms:W3CDTF">2026-05-30T15:40:24Z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2026-05-30T04:29:53Z</dcterms:created>
  <dc:creator>Unknown Creator</dc:creator>
  <dc:description/>
  <dc:language>en-US</dc:language>
  <cp:lastModifiedBy>Unknown Creator</cp:lastModifiedBy>
  <dcterms:modified xsi:type="dcterms:W3CDTF">2026-05-30T04:29:53Z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